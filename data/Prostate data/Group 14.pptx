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36EF02-C2F1-4870-AB2A-6F271D10AEED}">
  <a:tblStyle styleId="{FC36EF02-C2F1-4870-AB2A-6F271D10AEE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6c91b9f06_8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6c91b9f06_8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d6c91b9f06_8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6c91b9f06_8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6c91b9f06_8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d6c91b9f06_8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6c91b9f06_8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6c91b9f06_8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d6c91b9f06_8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6c91b9f06_8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d6c91b9f06_8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d6c91b9f06_8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028090">
              <a:alpha val="25098"/>
            </a:srgbClr>
          </a:solidFill>
          <a:ln cap="flat" cmpd="sng" w="12700">
            <a:solidFill>
              <a:srgbClr val="02809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Prostate Cancer Diagnosis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182880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Using Machine Learning Classification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2606040"/>
            <a:ext cx="4114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Health Informatics Project  |  ML-Based Diagnostic Classification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Dataset: 100 patients  |  8 Features  |  6 Classifiers  |  2 Pipelines  |  SHAP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60" y="1051560"/>
            <a:ext cx="2651700" cy="3657600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1051560"/>
            <a:ext cx="265176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" y="10515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02920" y="1691640"/>
            <a:ext cx="23774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Prostate cancer is one of the most common cancers in men. Early and accurate diagnosis (Malignant vs Benign) is critical for effective treatment planning.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200400" y="1051560"/>
            <a:ext cx="2651760" cy="3657600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3200400" y="1051560"/>
            <a:ext cx="265176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200400" y="10515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337560" y="1691640"/>
            <a:ext cx="23774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 identify the feature important for the prediction of the label and to train a machine learning model and observe its performance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035040" y="1051560"/>
            <a:ext cx="2651760" cy="3657600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035040" y="1051560"/>
            <a:ext cx="265176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035040" y="10515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172200" y="1691640"/>
            <a:ext cx="23774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EDA → Preprocessing → Model Training → Interpretability (SHAP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Description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65760" y="1005840"/>
            <a:ext cx="292608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365760" y="105156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65760" y="15727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 Patients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65760" y="2240280"/>
            <a:ext cx="292608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365760" y="228600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65760" y="28072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Feature Columns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65760" y="3474720"/>
            <a:ext cx="292608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365760" y="352044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62 / 38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65760" y="404164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Malignant / Benign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657600" y="9144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Dataset Features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" name="Google Shape;59;p5"/>
          <p:cNvGraphicFramePr/>
          <p:nvPr/>
        </p:nvGraphicFramePr>
        <p:xfrm>
          <a:off x="36576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{FC36EF02-C2F1-4870-AB2A-6F271D10AEED}</a:tableStyleId>
              </a:tblPr>
              <a:tblGrid>
                <a:gridCol w="1645925"/>
                <a:gridCol w="34747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radius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distance from centre to perimeter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texture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Std dev of grey-scale values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perimeter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Tumour perimeter measurement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area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Tumour area measurement (skewed)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smoothness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variation in radius lengths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compactness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Perimeter² / area − 1 (skewed)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symmetry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Symmetry of the tumour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fractal_dimension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Coastline approximation (skewed)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65760" y="9144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6125"/>
            <a:ext cx="3972049" cy="366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8475" y="1065100"/>
            <a:ext cx="4803325" cy="349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75" y="46275"/>
            <a:ext cx="803579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8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365760" y="822955"/>
            <a:ext cx="320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Class Distribution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55722"/>
            <a:ext cx="3200400" cy="20118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/>
          <p:nvPr/>
        </p:nvSpPr>
        <p:spPr>
          <a:xfrm>
            <a:off x="3840480" y="868680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3840480" y="1261872"/>
            <a:ext cx="49377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Boxplots and histograms revealed right-skewed distributions for some features.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Skewed features identified: area, compactness, fractal_dimension, perimeter</a:t>
            </a:r>
            <a:endParaRPr b="0" i="0" sz="125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Box plot identified very few outliers in features.</a:t>
            </a:r>
            <a:endParaRPr sz="12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highly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correlated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features were present.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missing values — dataset is clean (100 patients × 10 columns)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365710" y="3167530"/>
            <a:ext cx="8412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Correlation Heatmap Findings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7" name="Google Shape;87;p8"/>
          <p:cNvGraphicFramePr/>
          <p:nvPr/>
        </p:nvGraphicFramePr>
        <p:xfrm>
          <a:off x="365710" y="3514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{FC36EF02-C2F1-4870-AB2A-6F271D10AEED}</a:tableStyleId>
              </a:tblPr>
              <a:tblGrid>
                <a:gridCol w="1645925"/>
                <a:gridCol w="1463050"/>
                <a:gridCol w="5303525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Importance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perimeter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Highest feature importance — strong malignancy predictor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area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2nd most important — highly correlated with diagnosis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compactness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3rd — correlated with </a:t>
                      </a:r>
                      <a:r>
                        <a:rPr lang="en-US" sz="110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diagnosis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en-US" sz="110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ymmetry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 predictive power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smoothness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 discriminative value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9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Preprocessing — Two Pipelines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Common Steps (both pipelines)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365760" y="1261872"/>
            <a:ext cx="2743200" cy="685800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457200" y="129844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1. Label Encoding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57200" y="157276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B=0, M=1 via LabelEncoder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3291840" y="1261872"/>
            <a:ext cx="2743200" cy="685800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"/>
          <p:cNvSpPr/>
          <p:nvPr/>
        </p:nvSpPr>
        <p:spPr>
          <a:xfrm>
            <a:off x="3383280" y="129844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2. Train/Test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3383280" y="157276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80/20 stratified (random_state=42)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6217920" y="1261872"/>
            <a:ext cx="2743200" cy="685800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"/>
          <p:cNvSpPr/>
          <p:nvPr/>
        </p:nvSpPr>
        <p:spPr>
          <a:xfrm>
            <a:off x="6309360" y="129844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3. SMOTE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6309360" y="157276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Applied on training fold only to balance classes (34→46 Benign)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365760" y="2148840"/>
            <a:ext cx="4023360" cy="2651760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365760" y="2148840"/>
            <a:ext cx="4023360" cy="43891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"/>
          <p:cNvSpPr/>
          <p:nvPr/>
        </p:nvSpPr>
        <p:spPr>
          <a:xfrm>
            <a:off x="365760" y="2148840"/>
            <a:ext cx="402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1 — Standard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548640" y="2651760"/>
            <a:ext cx="365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Step 1: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SMOTE balancing</a:t>
            </a:r>
            <a:b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Step 2: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StandardScaler on all features</a:t>
            </a:r>
            <a:b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Applies uniform scaling across all 8 features. No treatment for skewness.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4754880" y="2148840"/>
            <a:ext cx="4023360" cy="2651760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4754880" y="2148840"/>
            <a:ext cx="4023360" cy="43891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4754880" y="2148840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2 — Enhanced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4937760" y="2651760"/>
            <a:ext cx="365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Step 1: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SMOTE balancing</a:t>
            </a:r>
            <a:b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Step 2: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Yeo-Johnson transform on skewed features</a:t>
            </a:r>
            <a:b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(area, compactness, fractal_dimension, perimeter)</a:t>
            </a:r>
            <a:b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Step 3: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StandardScaler on all features</a:t>
            </a:r>
            <a:b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Reduces skewness before scaling → better model performance.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5-Fold Stratified Cross-Validation used in both pipelines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"/>
          <p:cNvSpPr/>
          <p:nvPr/>
        </p:nvSpPr>
        <p:spPr>
          <a:xfrm>
            <a:off x="365760" y="9144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Preprocessing — Two Pipelines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10"/>
          <p:cNvGrpSpPr/>
          <p:nvPr/>
        </p:nvGrpSpPr>
        <p:grpSpPr>
          <a:xfrm>
            <a:off x="361950" y="952500"/>
            <a:ext cx="2590800" cy="1428900"/>
            <a:chOff x="361950" y="952500"/>
            <a:chExt cx="2590800" cy="1428900"/>
          </a:xfrm>
        </p:grpSpPr>
        <p:sp>
          <p:nvSpPr>
            <p:cNvPr id="122" name="Google Shape;122;p10"/>
            <p:cNvSpPr/>
            <p:nvPr/>
          </p:nvSpPr>
          <p:spPr>
            <a:xfrm>
              <a:off x="361950" y="952500"/>
              <a:ext cx="2590800" cy="1428900"/>
            </a:xfrm>
            <a:prstGeom prst="roundRect">
              <a:avLst>
                <a:gd fmla="val 5333" name="adj"/>
              </a:avLst>
            </a:prstGeom>
            <a:solidFill>
              <a:srgbClr val="F0F7F8"/>
            </a:solidFill>
            <a:ln cap="flat" cmpd="sng" w="14300">
              <a:solidFill>
                <a:srgbClr val="0280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0"/>
            <p:cNvSpPr txBox="1"/>
            <p:nvPr/>
          </p:nvSpPr>
          <p:spPr>
            <a:xfrm>
              <a:off x="457200" y="1047750"/>
              <a:ext cx="2400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28090"/>
                  </a:solidFill>
                  <a:latin typeface="Calibri"/>
                  <a:ea typeface="Calibri"/>
                  <a:cs typeface="Calibri"/>
                  <a:sym typeface="Calibri"/>
                </a:rPr>
                <a:t>1. Standard Scaler</a:t>
              </a:r>
              <a:endParaRPr b="1" sz="14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The variance between the mean of the features was quite high; used to normalize and prevent feature dominance.</a:t>
              </a:r>
              <a:endParaRPr b="0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10"/>
          <p:cNvGrpSpPr/>
          <p:nvPr/>
        </p:nvGrpSpPr>
        <p:grpSpPr>
          <a:xfrm>
            <a:off x="3276600" y="952500"/>
            <a:ext cx="2590800" cy="1428900"/>
            <a:chOff x="3276600" y="952500"/>
            <a:chExt cx="2590800" cy="1428900"/>
          </a:xfrm>
        </p:grpSpPr>
        <p:sp>
          <p:nvSpPr>
            <p:cNvPr id="125" name="Google Shape;125;p10"/>
            <p:cNvSpPr/>
            <p:nvPr/>
          </p:nvSpPr>
          <p:spPr>
            <a:xfrm>
              <a:off x="3276600" y="952500"/>
              <a:ext cx="2590800" cy="1428900"/>
            </a:xfrm>
            <a:prstGeom prst="roundRect">
              <a:avLst>
                <a:gd fmla="val 5333" name="adj"/>
              </a:avLst>
            </a:prstGeom>
            <a:solidFill>
              <a:srgbClr val="F0F7F8"/>
            </a:solidFill>
            <a:ln cap="flat" cmpd="sng" w="14300">
              <a:solidFill>
                <a:srgbClr val="0280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0"/>
            <p:cNvSpPr txBox="1"/>
            <p:nvPr/>
          </p:nvSpPr>
          <p:spPr>
            <a:xfrm>
              <a:off x="3371850" y="1047750"/>
              <a:ext cx="2400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28090"/>
                  </a:solidFill>
                  <a:latin typeface="Calibri"/>
                  <a:ea typeface="Calibri"/>
                  <a:cs typeface="Calibri"/>
                  <a:sym typeface="Calibri"/>
                </a:rPr>
                <a:t>2. SMOTE</a:t>
              </a:r>
              <a:endParaRPr b="1" sz="14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Addresses data imbalance via synthetic generation to prevent model bias toward the majority class.</a:t>
              </a:r>
              <a:endParaRPr b="0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10"/>
          <p:cNvGrpSpPr/>
          <p:nvPr/>
        </p:nvGrpSpPr>
        <p:grpSpPr>
          <a:xfrm>
            <a:off x="6191250" y="952500"/>
            <a:ext cx="2590800" cy="1428900"/>
            <a:chOff x="6191250" y="952500"/>
            <a:chExt cx="2590800" cy="1428900"/>
          </a:xfrm>
        </p:grpSpPr>
        <p:sp>
          <p:nvSpPr>
            <p:cNvPr id="128" name="Google Shape;128;p10"/>
            <p:cNvSpPr/>
            <p:nvPr/>
          </p:nvSpPr>
          <p:spPr>
            <a:xfrm>
              <a:off x="6191250" y="952500"/>
              <a:ext cx="2590800" cy="1428900"/>
            </a:xfrm>
            <a:prstGeom prst="roundRect">
              <a:avLst>
                <a:gd fmla="val 5333" name="adj"/>
              </a:avLst>
            </a:prstGeom>
            <a:solidFill>
              <a:srgbClr val="F0F7F8"/>
            </a:solidFill>
            <a:ln cap="flat" cmpd="sng" w="14300">
              <a:solidFill>
                <a:srgbClr val="02C3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0"/>
            <p:cNvSpPr txBox="1"/>
            <p:nvPr/>
          </p:nvSpPr>
          <p:spPr>
            <a:xfrm>
              <a:off x="6286500" y="1047750"/>
              <a:ext cx="2400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2C39A"/>
                  </a:solidFill>
                  <a:latin typeface="Calibri"/>
                  <a:ea typeface="Calibri"/>
                  <a:cs typeface="Calibri"/>
                  <a:sym typeface="Calibri"/>
                </a:rPr>
                <a:t>3. Yeo-Johnson</a:t>
              </a:r>
              <a:endParaRPr b="1" sz="14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Transformation applied to remove skewness from highly skewed features for better performance.</a:t>
              </a:r>
              <a:endParaRPr b="0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0"/>
          <p:cNvSpPr txBox="1"/>
          <p:nvPr/>
        </p:nvSpPr>
        <p:spPr>
          <a:xfrm>
            <a:off x="361950" y="2571750"/>
            <a:ext cx="8420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Design Rationale</a:t>
            </a:r>
            <a:endParaRPr b="1" sz="18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1"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Strategic preprocessing steps implemented to ensure data quality and improve classifier robustness.</a:t>
            </a:r>
            <a:endParaRPr b="0" i="1" sz="12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0"/>
          <p:cNvCxnSpPr/>
          <p:nvPr/>
        </p:nvCxnSpPr>
        <p:spPr>
          <a:xfrm>
            <a:off x="361950" y="3238500"/>
            <a:ext cx="84201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2" name="Google Shape;132;p10"/>
          <p:cNvGrpSpPr/>
          <p:nvPr/>
        </p:nvGrpSpPr>
        <p:grpSpPr>
          <a:xfrm>
            <a:off x="361950" y="3429000"/>
            <a:ext cx="8420100" cy="1333500"/>
            <a:chOff x="361950" y="3429000"/>
            <a:chExt cx="8420100" cy="1333500"/>
          </a:xfrm>
        </p:grpSpPr>
        <p:sp>
          <p:nvSpPr>
            <p:cNvPr id="133" name="Google Shape;133;p10"/>
            <p:cNvSpPr/>
            <p:nvPr/>
          </p:nvSpPr>
          <p:spPr>
            <a:xfrm>
              <a:off x="361950" y="3429000"/>
              <a:ext cx="8420100" cy="1333500"/>
            </a:xfrm>
            <a:prstGeom prst="roundRect">
              <a:avLst>
                <a:gd fmla="val 8571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0"/>
            <p:cNvSpPr txBox="1"/>
            <p:nvPr/>
          </p:nvSpPr>
          <p:spPr>
            <a:xfrm>
              <a:off x="647700" y="3619500"/>
              <a:ext cx="7848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The preprocessing reasoning focuses on three core pillars: </a:t>
              </a:r>
              <a:r>
                <a:rPr b="1" lang="en-US" sz="1400">
                  <a:solidFill>
                    <a:srgbClr val="028090"/>
                  </a:solidFill>
                  <a:latin typeface="Calibri"/>
                  <a:ea typeface="Calibri"/>
                  <a:cs typeface="Calibri"/>
                  <a:sym typeface="Calibri"/>
                </a:rPr>
                <a:t>Feature Scaling</a:t>
              </a:r>
              <a:r>
                <a:rPr b="0" lang="en-US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b="1" lang="en-US" sz="1400">
                  <a:solidFill>
                    <a:srgbClr val="028090"/>
                  </a:solidFill>
                  <a:latin typeface="Calibri"/>
                  <a:ea typeface="Calibri"/>
                  <a:cs typeface="Calibri"/>
                  <a:sym typeface="Calibri"/>
                </a:rPr>
                <a:t>Class Balancing</a:t>
              </a:r>
              <a:r>
                <a:rPr b="0" lang="en-US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, and </a:t>
              </a:r>
              <a:r>
                <a:rPr b="1" lang="en-US" sz="1400">
                  <a:solidFill>
                    <a:srgbClr val="02C39A"/>
                  </a:solidFill>
                  <a:latin typeface="Calibri"/>
                  <a:ea typeface="Calibri"/>
                  <a:cs typeface="Calibri"/>
                  <a:sym typeface="Calibri"/>
                </a:rPr>
                <a:t>Skewness Correction</a:t>
              </a:r>
              <a:r>
                <a:rPr b="0" lang="en-US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. These combined steps prepare the 100-patient dataset for high-accuracy clinical classification.</a:t>
              </a:r>
              <a:endParaRPr b="0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Models (6 Classifiers)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365760" y="960120"/>
            <a:ext cx="54864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594360" y="97840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594360" y="125272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Params: L2 penalty, C=1, solver=lbfgs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3657600" y="1033272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Linear probabilistic classifier; serves as interpretable baseline.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11"/>
          <p:cNvCxnSpPr/>
          <p:nvPr/>
        </p:nvCxnSpPr>
        <p:spPr>
          <a:xfrm>
            <a:off x="365760" y="1600200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11"/>
          <p:cNvSpPr/>
          <p:nvPr/>
        </p:nvSpPr>
        <p:spPr>
          <a:xfrm>
            <a:off x="365760" y="1664208"/>
            <a:ext cx="54864" cy="5669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"/>
          <p:cNvSpPr/>
          <p:nvPr/>
        </p:nvSpPr>
        <p:spPr>
          <a:xfrm>
            <a:off x="594360" y="168249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K-Nearest Neighbors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594360" y="195681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Params: k=5, weights='distance'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3657600" y="173736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Instance-based learner weighted by neighbour distance.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11"/>
          <p:cNvCxnSpPr/>
          <p:nvPr/>
        </p:nvCxnSpPr>
        <p:spPr>
          <a:xfrm>
            <a:off x="365760" y="2304288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11"/>
          <p:cNvSpPr/>
          <p:nvPr/>
        </p:nvSpPr>
        <p:spPr>
          <a:xfrm>
            <a:off x="365760" y="2368296"/>
            <a:ext cx="54864" cy="56692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"/>
          <p:cNvSpPr/>
          <p:nvPr/>
        </p:nvSpPr>
        <p:spPr>
          <a:xfrm>
            <a:off x="594360" y="23865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594360" y="2660904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Params: entropy criterion, max_depth=5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3657600" y="2441448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Tree-based splits using information gain; interpretable.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11"/>
          <p:cNvCxnSpPr/>
          <p:nvPr/>
        </p:nvCxnSpPr>
        <p:spPr>
          <a:xfrm>
            <a:off x="365760" y="3008376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11"/>
          <p:cNvSpPr/>
          <p:nvPr/>
        </p:nvSpPr>
        <p:spPr>
          <a:xfrm>
            <a:off x="365760" y="3072384"/>
            <a:ext cx="54864" cy="566928"/>
          </a:xfrm>
          <a:prstGeom prst="rect">
            <a:avLst/>
          </a:prstGeom>
          <a:solidFill>
            <a:srgbClr val="02A87E"/>
          </a:solidFill>
          <a:ln cap="flat" cmpd="sng" w="12700">
            <a:solidFill>
              <a:srgbClr val="02A8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594360" y="309067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594360" y="336499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7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2A87E"/>
                </a:solidFill>
                <a:latin typeface="Calibri"/>
                <a:ea typeface="Calibri"/>
                <a:cs typeface="Calibri"/>
                <a:sym typeface="Calibri"/>
              </a:rPr>
              <a:t>Params: 300 estimators, max_depth=5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3657600" y="3145536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Bagging ensemble of decision trees; robust against overfitting.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11"/>
          <p:cNvCxnSpPr/>
          <p:nvPr/>
        </p:nvCxnSpPr>
        <p:spPr>
          <a:xfrm>
            <a:off x="365760" y="3712464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11"/>
          <p:cNvSpPr/>
          <p:nvPr/>
        </p:nvSpPr>
        <p:spPr>
          <a:xfrm>
            <a:off x="365760" y="3776472"/>
            <a:ext cx="54864" cy="56692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"/>
          <p:cNvSpPr/>
          <p:nvPr/>
        </p:nvSpPr>
        <p:spPr>
          <a:xfrm>
            <a:off x="594360" y="37947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SVM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594360" y="406908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Params: C=0.5, probability=True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3657600" y="3849624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Margin-maximising classifier; supports probability output for stacking.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11"/>
          <p:cNvCxnSpPr/>
          <p:nvPr/>
        </p:nvCxnSpPr>
        <p:spPr>
          <a:xfrm>
            <a:off x="365760" y="441655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11"/>
          <p:cNvSpPr/>
          <p:nvPr/>
        </p:nvSpPr>
        <p:spPr>
          <a:xfrm>
            <a:off x="365760" y="4480560"/>
            <a:ext cx="54864" cy="566928"/>
          </a:xfrm>
          <a:prstGeom prst="rect">
            <a:avLst/>
          </a:prstGeom>
          <a:solidFill>
            <a:srgbClr val="5C3D8F"/>
          </a:solidFill>
          <a:ln cap="flat" cmpd="sng" w="12700">
            <a:solidFill>
              <a:srgbClr val="5C3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"/>
          <p:cNvSpPr/>
          <p:nvPr/>
        </p:nvSpPr>
        <p:spPr>
          <a:xfrm>
            <a:off x="594360" y="449884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Stacking Classifier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594360" y="477316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8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3D8F"/>
                </a:solidFill>
                <a:latin typeface="Calibri"/>
                <a:ea typeface="Calibri"/>
                <a:cs typeface="Calibri"/>
                <a:sym typeface="Calibri"/>
              </a:rPr>
              <a:t>Params: Base: RF + SVM + DT → Meta: LR (cv=5)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3657600" y="4553712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Ensemble that learns from predictions of base models via meta-learner.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1 Results — SMOTE + StandardScaler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5-Fold Stratified Cross-Validation on full dataset (n=100)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12"/>
          <p:cNvGraphicFramePr/>
          <p:nvPr/>
        </p:nvGraphicFramePr>
        <p:xfrm>
          <a:off x="365760" y="1170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{FC36EF02-C2F1-4870-AB2A-6F271D10AEED}</a:tableStyleId>
              </a:tblPr>
              <a:tblGrid>
                <a:gridCol w="2194550"/>
                <a:gridCol w="1188725"/>
                <a:gridCol w="1371600"/>
                <a:gridCol w="685800"/>
                <a:gridCol w="685800"/>
                <a:gridCol w="685800"/>
                <a:gridCol w="685800"/>
              </a:tblGrid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(weighted)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TP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83.2%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80.1%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76.8%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80.1%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Stacking Classifier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82.9%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</a:tbl>
          </a:graphicData>
        </a:graphic>
      </p:graphicFrame>
      <p:sp>
        <p:nvSpPr>
          <p:cNvPr id="180" name="Google Shape;180;p12"/>
          <p:cNvSpPr/>
          <p:nvPr/>
        </p:nvSpPr>
        <p:spPr>
          <a:xfrm>
            <a:off x="365760" y="400507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Logistic Regression and Stacking Classifier tied for best accuracy (83%). </a:t>
            </a:r>
            <a:endParaRPr b="0" i="0" sz="125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Stacking shows lower False Negatives (7 FN) — clinically important for missed cancer diagnoses.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2 Results — SMOTE + YeoJohnson + StandardScaler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5-Fold Stratified Cross-Validation on full dataset (n=100)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13"/>
          <p:cNvGraphicFramePr/>
          <p:nvPr/>
        </p:nvGraphicFramePr>
        <p:xfrm>
          <a:off x="365760" y="1170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{FC36EF02-C2F1-4870-AB2A-6F271D10AEED}</a:tableStyleId>
              </a:tblPr>
              <a:tblGrid>
                <a:gridCol w="2194550"/>
                <a:gridCol w="1188725"/>
                <a:gridCol w="1371600"/>
                <a:gridCol w="685800"/>
                <a:gridCol w="685800"/>
                <a:gridCol w="685800"/>
                <a:gridCol w="685800"/>
              </a:tblGrid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(weighted)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TP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85.1%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79.0%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79.1%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76.9%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80.1%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Stacking Classifier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81.8%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13"/>
          <p:cNvSpPr/>
          <p:nvPr/>
        </p:nvSpPr>
        <p:spPr>
          <a:xfrm>
            <a:off x="365760" y="400507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Logistic Regression benefits most from Yeo-Johnson (+2% accuracy). Stacking Classifier maintains lowest FN (7).</a:t>
            </a:r>
            <a:endParaRPr b="0" i="0" sz="125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YeoJohnson transformation particularly helps models sensitive to feature distribution.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1 vs Pipeline 2 — Comparison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Accuracy Comparison (%)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207008"/>
            <a:ext cx="41148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4"/>
          <p:cNvSpPr/>
          <p:nvPr/>
        </p:nvSpPr>
        <p:spPr>
          <a:xfrm>
            <a:off x="4754880" y="868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F1 Score Comparison (%)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207008"/>
            <a:ext cx="41148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4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Pipeline 2 wins for Logistic Regression (+2%). Other models show similar or equal performance — Yeo-Johnson most benefits distribution-sensitive models.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Model &amp; Hyperparameter Tuning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Logistic Regression selected as best model (85% acc, 85.1% F1 — Pipeline 2). GridSearchCV used to find optimal hyperparameters.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365760" y="1280161"/>
            <a:ext cx="4023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Search Space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2" name="Google Shape;212;p15"/>
          <p:cNvGraphicFramePr/>
          <p:nvPr/>
        </p:nvGraphicFramePr>
        <p:xfrm>
          <a:off x="36576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{FC36EF02-C2F1-4870-AB2A-6F271D10AEED}</a:tableStyleId>
              </a:tblPr>
              <a:tblGrid>
                <a:gridCol w="2103125"/>
                <a:gridCol w="192025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Hyperparameter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Values Tested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penalty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l2, l1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0.1, 1, 10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solver (l2)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lbfgs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solver (l1)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liblinear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f1_weighted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 Folds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5-Fold Stratified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</a:tbl>
          </a:graphicData>
        </a:graphic>
      </p:graphicFrame>
      <p:sp>
        <p:nvSpPr>
          <p:cNvPr id="213" name="Google Shape;213;p15"/>
          <p:cNvSpPr/>
          <p:nvPr/>
        </p:nvSpPr>
        <p:spPr>
          <a:xfrm>
            <a:off x="365760" y="4160520"/>
            <a:ext cx="4023360" cy="685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5"/>
          <p:cNvSpPr/>
          <p:nvPr/>
        </p:nvSpPr>
        <p:spPr>
          <a:xfrm>
            <a:off x="365760" y="4160520"/>
            <a:ext cx="4023360" cy="685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Best Params: penalty=l2,  C=1,  solver=lbfgs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15"/>
          <p:cNvGraphicFramePr/>
          <p:nvPr/>
        </p:nvGraphicFramePr>
        <p:xfrm>
          <a:off x="4796255" y="363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{FC36EF02-C2F1-4870-AB2A-6F271D10AEED}</a:tableStyleId>
              </a:tblPr>
              <a:tblGrid>
                <a:gridCol w="1371600"/>
                <a:gridCol w="914400"/>
                <a:gridCol w="868675"/>
                <a:gridCol w="86867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Benign (0)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Malignant (1)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Weighted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85.1%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</a:tbl>
          </a:graphicData>
        </a:graphic>
      </p:graphicFrame>
      <p:pic>
        <p:nvPicPr>
          <p:cNvPr id="216" name="Google Shape;2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275" y="1353300"/>
            <a:ext cx="2806776" cy="2212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6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 Analysis — Model Explainability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365760" y="88696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SHAP (SHapley Additive exPlanations) applied to the best Logistic Regression model from Pipeline 1 using LinearExplainer.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365760" y="129844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What is SHAP?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365760" y="1691640"/>
            <a:ext cx="4023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SHAP assigns each feature a contribution value for each individual prediction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Based on game-theory Shapley values — fair attribution among features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LinearExplainer used: efficient for linear models like Logistic Regression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Summary plot shows feature importance AND direction of impact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High SHAP value = pushes prediction toward Malignant (class 1)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4754880" y="129844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Key SHAP Findings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8" name="Google Shape;228;p16"/>
          <p:cNvGraphicFramePr/>
          <p:nvPr/>
        </p:nvGraphicFramePr>
        <p:xfrm>
          <a:off x="47548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{FC36EF02-C2F1-4870-AB2A-6F271D10AEED}</a:tableStyleId>
              </a:tblPr>
              <a:tblGrid>
                <a:gridCol w="1554475"/>
                <a:gridCol w="24688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SHAP Insight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texture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Strongest positive driver — high compactness → Malignant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area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area values push prediction toward Malignant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radius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Positively correlated with Malignant class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symmetry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symmetry associated with Malignant tumours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8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texture / radius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 SHAP magnitude — weaker contribution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9" name="Google Shape;229;p16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Why SHAP Matters in Healthcare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6"/>
          <p:cNvSpPr/>
          <p:nvPr/>
        </p:nvSpPr>
        <p:spPr>
          <a:xfrm>
            <a:off x="365760" y="4507992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 medical diagnosis, a model that cannot be explained is difficult to trust clinically. SHAP bridges the gap between model accuracy and clinical interpretability — allowing physicians to understand which tumour measurements are driving the malignancy prediction.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365760" y="9144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 Analysis — Model Explainability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675" y="958975"/>
            <a:ext cx="6701749" cy="40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 Model Performance Summary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14400"/>
            <a:ext cx="548640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8"/>
          <p:cNvSpPr/>
          <p:nvPr/>
        </p:nvSpPr>
        <p:spPr>
          <a:xfrm>
            <a:off x="6126480" y="91440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Final Rankings (Best Pipeline)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6126480" y="1325880"/>
            <a:ext cx="2743200" cy="493776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6263640" y="1362456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🥇 1st  Log. Regression (P2)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8138160" y="1362456"/>
            <a:ext cx="640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85%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6126480" y="1892808"/>
            <a:ext cx="2743200" cy="493776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6263640" y="1929384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🥈 2nd  Stacking (P1)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8138160" y="1929384"/>
            <a:ext cx="640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83%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6126480" y="2459736"/>
            <a:ext cx="2743200" cy="493776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8"/>
          <p:cNvSpPr/>
          <p:nvPr/>
        </p:nvSpPr>
        <p:spPr>
          <a:xfrm>
            <a:off x="6263640" y="2496312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🥉 3rd  Random Forest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8138160" y="2496312"/>
            <a:ext cx="640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82%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6126480" y="3026664"/>
            <a:ext cx="2743200" cy="4937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8"/>
          <p:cNvSpPr/>
          <p:nvPr/>
        </p:nvSpPr>
        <p:spPr>
          <a:xfrm>
            <a:off x="6263640" y="3063240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4th  SVM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8138160" y="3063240"/>
            <a:ext cx="640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6126480" y="3593592"/>
            <a:ext cx="2743200" cy="4937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8"/>
          <p:cNvSpPr/>
          <p:nvPr/>
        </p:nvSpPr>
        <p:spPr>
          <a:xfrm>
            <a:off x="6263640" y="3630168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5th  KNN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8138160" y="3630168"/>
            <a:ext cx="640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6126480" y="4160520"/>
            <a:ext cx="2743200" cy="4937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8"/>
          <p:cNvSpPr/>
          <p:nvPr/>
        </p:nvSpPr>
        <p:spPr>
          <a:xfrm>
            <a:off x="6263640" y="4197096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6th  Decision Tree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8138160" y="4197096"/>
            <a:ext cx="640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77%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 &amp; Insights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365760" y="960120"/>
            <a:ext cx="4023360" cy="1188720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"/>
          <p:cNvSpPr/>
          <p:nvPr/>
        </p:nvSpPr>
        <p:spPr>
          <a:xfrm>
            <a:off x="475488" y="1234440"/>
            <a:ext cx="502920" cy="502920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475488" y="1234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1115568" y="105156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Best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1115568" y="1362456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Logistic Regression (Pipeline 2) achieved 85% accuracy &amp; 85.1% F1 — best across all 6 classifiers.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4663440" y="960120"/>
            <a:ext cx="4023360" cy="1188720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4773168" y="1234440"/>
            <a:ext cx="502920" cy="50292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4773168" y="1234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5413248" y="105156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Top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5413248" y="1362456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Area (24.9%), Compactness (22.6%), Perimeter (20%) together account for ~68% of feature importance.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365760" y="2286000"/>
            <a:ext cx="4023360" cy="1188720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475488" y="2560320"/>
            <a:ext cx="502920" cy="50292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>
            <a:off x="475488" y="2560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1115568" y="237744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Pipeline 2 Wins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1115568" y="2688336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Yeo-Johnson transform on skewed features improved Logistic Regression by +2% — confirms skewness correction matters.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4663440" y="2286000"/>
            <a:ext cx="4023360" cy="1188720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5C3D8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4773168" y="2560320"/>
            <a:ext cx="502920" cy="502920"/>
          </a:xfrm>
          <a:prstGeom prst="ellipse">
            <a:avLst/>
          </a:prstGeom>
          <a:solidFill>
            <a:srgbClr val="5C3D8F"/>
          </a:solidFill>
          <a:ln cap="flat" cmpd="sng" w="12700">
            <a:solidFill>
              <a:srgbClr val="5C3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9"/>
          <p:cNvSpPr/>
          <p:nvPr/>
        </p:nvSpPr>
        <p:spPr>
          <a:xfrm>
            <a:off x="4773168" y="2560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5413248" y="237744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Stacking Advantage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5413248" y="2688336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Stacking Classifier had fewest False Negatives (7 FN) — clinically most valuable for minimising missed cancer cases.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475488" y="3886200"/>
            <a:ext cx="502920" cy="50292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475488" y="3886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1115568" y="370332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SHAP Explainability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1115568" y="4014216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SHAP confirmed compactness and area as top malignancy drivers — aligns with Random Forest feature importance.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4663440" y="3611880"/>
            <a:ext cx="4023360" cy="1188720"/>
          </a:xfrm>
          <a:prstGeom prst="rect">
            <a:avLst/>
          </a:prstGeom>
          <a:solidFill>
            <a:srgbClr val="F0F7F8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4773168" y="3886200"/>
            <a:ext cx="502920" cy="502920"/>
          </a:xfrm>
          <a:prstGeom prst="ellipse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4773168" y="3886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5413248" y="370332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Decision Tree Limit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5413248" y="4014216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Decision Tree scored lowest (77%) — even at max_depth=5, limited generalisation on this small dataset.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28090">
              <a:alpha val="14901"/>
            </a:srgbClr>
          </a:solidFill>
          <a:ln cap="flat" cmpd="sng" w="12700">
            <a:solidFill>
              <a:srgbClr val="02809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0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0"/>
          <p:cNvSpPr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457200" y="100584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457200" y="1389888"/>
            <a:ext cx="6400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1FAF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1FAF3"/>
                </a:solidFill>
                <a:latin typeface="Calibri"/>
                <a:ea typeface="Calibri"/>
                <a:cs typeface="Calibri"/>
                <a:sym typeface="Calibri"/>
              </a:rPr>
              <a:t>Logistic Regression + Pipeline 2 (YeoJohnson) is the best model at 85% accuracy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1FAF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1FAF3"/>
                </a:solidFill>
                <a:latin typeface="Calibri"/>
                <a:ea typeface="Calibri"/>
                <a:cs typeface="Calibri"/>
                <a:sym typeface="Calibri"/>
              </a:rPr>
              <a:t>6 classifiers tested; all achieved &gt;77% — dataset is learnable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1FAF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1FAF3"/>
                </a:solidFill>
                <a:latin typeface="Calibri"/>
                <a:ea typeface="Calibri"/>
                <a:cs typeface="Calibri"/>
                <a:sym typeface="Calibri"/>
              </a:rPr>
              <a:t>Pipeline 2 (with Yeo-Johnson) outperforms Pipeline 1 for distribution-sensitive models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1FAF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1FAF3"/>
                </a:solidFill>
                <a:latin typeface="Calibri"/>
                <a:ea typeface="Calibri"/>
                <a:cs typeface="Calibri"/>
                <a:sym typeface="Calibri"/>
              </a:rPr>
              <a:t>Stacking Classifier minimises False Negatives — most clinically safe choice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1FAF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1FAF3"/>
                </a:solidFill>
                <a:latin typeface="Calibri"/>
                <a:ea typeface="Calibri"/>
                <a:cs typeface="Calibri"/>
                <a:sym typeface="Calibri"/>
              </a:rPr>
              <a:t>SHAP confirms compactness, area, and perimeter as dominant malignancy indicators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1FAF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1FAF3"/>
                </a:solidFill>
                <a:latin typeface="Calibri"/>
                <a:ea typeface="Calibri"/>
                <a:cs typeface="Calibri"/>
                <a:sym typeface="Calibri"/>
              </a:rPr>
              <a:t>Preprocessing quality (handling skewness) meaningfully impacts results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457200" y="349300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457200" y="3877056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Apply deep learning (MLP) on a larger prostate cancer dataset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Explore additional ensemble strategies (boosting: XGBoost, LightGBM)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Extend SHAP analysis to all models for comprehensive interpretability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Perform feature selection to address multicollinearity between area/perimeter/radius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